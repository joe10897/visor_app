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73152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5400" b="1">
                <a:solidFill>
                  <a:srgbClr val="0F172A"/>
                </a:solidFill>
                <a:latin typeface="Microsoft JhengHei"/>
              </a:defRPr>
            </a:pPr>
            <a:r>
              <a:t>V.I.S.O.R.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智慧視覺機車安全行車輔助系統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728655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9728" cy="2560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10058400" cy="2194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D9488"/>
                </a:solidFill>
                <a:latin typeface="Microsoft JhengHei"/>
              </a:defRPr>
            </a:pPr>
            <a:r>
              <a:t>團隊成員 (PROJECT TEAM)</a:t>
            </a:r>
          </a:p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林韋丞、陳于庭、楊詠媜、林佳嫻、黃澤然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致理科技大學 資訊管理系</a:t>
            </a:r>
          </a:p>
          <a:p>
            <a:pPr>
              <a:defRPr sz="2000">
                <a:solidFill>
                  <a:srgbClr val="64748B"/>
                </a:solidFill>
                <a:latin typeface="Microsoft JhengHei"/>
              </a:defRPr>
            </a:pPr>
            <a:r>
              <a:t>專題方向：二輪邊緣視覺 AI 與智慧車載輔助系統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0D9488"/>
                </a:solidFill>
                <a:latin typeface="Microsoft JhengHei"/>
              </a:defRPr>
            </a:pPr>
            <a:r>
              <a:t>I. 研究背景與動機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機車道路安全危機與挑戰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91440" cy="43891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5943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防護嚴重不對稱：事故致死率高達小客車的 28 倍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死傷涉入率高：台灣車禍死傷中機車涉入達 61.74%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青年族群重災區：死傷者每 3 位就有 1 位是青年騎士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行車環境盲區多：頻繁車流交織，騎士反應時間僅毫秒級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缺乏專用方案：市售汽車 ADAS 昂貴笨重無法普及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台灣機車登記數達 1,440 萬輛，密度全球第一</a:t>
            </a:r>
          </a:p>
        </p:txBody>
      </p:sp>
      <p:pic>
        <p:nvPicPr>
          <p:cNvPr id="9" name="Picture 8" descr="crop_s2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27855" cy="3792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2 / 12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0D9488"/>
                </a:solidFill>
                <a:latin typeface="Microsoft JhengHei"/>
              </a:defRPr>
            </a:pPr>
            <a:r>
              <a:t>I. 研究背景與動機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V.I.S.O.R. 系統提案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_s3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389120" cy="39660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03520" y="1645920"/>
            <a:ext cx="61566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1645920"/>
            <a:ext cx="91440" cy="43891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737360"/>
            <a:ext cx="588233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專為機車族群打造低成本、純視覺主動安全防護盾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雙向全時監控：前 120° + 後 160°，近 280° 全景覆蓋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動態威脅分區：即時研判向量，自動切換前向/盲點預警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安全帽 HUD 預警：動態閃爍燈號與立體蜂鳴，零負擔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純視覺輕量整合：整合 YOLO26n 與四階邊緣消抖引擎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落實交通平權：讓百萬騎士享有汽車級主動安全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3 / 12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0D9488"/>
                </a:solidFill>
                <a:latin typeface="Microsoft JhengHei"/>
              </a:defRPr>
            </a:pPr>
            <a:r>
              <a:t>II. 文獻探討與基礎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YOLO26n 模型選型與 4:3 原生幾何架構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91440" cy="4389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5943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極致輕量化：2.37M 參數、模型 5.4MB (比 v8n 少 26%)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超低計算量：僅 5.3 GFLOPs，為樹莓派純 CPU 量身打造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全鏈路 4:3 原生幾何 (384×288)：消除 25% 黑色黑邊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算力直降 64.0%：有效像素密度提升，幀率達 30+ FPS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高精度收斂：汽車精確率 72.4%、機車 mAP 達 61.1%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端到端管線：雙鏡 ➔ CLAHE ➔ YOLO26n ➔ LSTR ➔ HUD</a:t>
            </a:r>
          </a:p>
        </p:txBody>
      </p:sp>
      <p:pic>
        <p:nvPicPr>
          <p:cNvPr id="9" name="Picture 8" descr="crop_s4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27855" cy="3792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4 / 12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0D9488"/>
                </a:solidFill>
                <a:latin typeface="Microsoft JhengHei"/>
              </a:defRPr>
            </a:pPr>
            <a:r>
              <a:t>II. 文獻探討與基礎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分散式雙節點邊緣運算架構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_s5_th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389120" cy="38903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03520" y="1645920"/>
            <a:ext cx="61566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1645920"/>
            <a:ext cx="91440" cy="43891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737360"/>
            <a:ext cx="588233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純 CPU 邊緣運算：拒絕 50~200ms 雲端延遲，延遲 &lt;41ms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運算與顯示硬體解耦：解決資源競爭，杜絕掉幀與撕裂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主機節點 (Pi 5)：置於車身，專職影像推論與車道擬合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顯示節點 (Pi Zero 2W)：嵌入安全帽，功耗 &lt;1.5W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微秒級 UDP 廣播：自定義封包 (&lt;128B)，延遲 &lt;1.2ms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車載供電優勢：運行功耗 &lt;15W，支援 12V 電瓶直驅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5 / 12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0D9488"/>
                </a:solidFill>
                <a:latin typeface="Microsoft JhengHei"/>
              </a:defRPr>
            </a:pPr>
            <a:r>
              <a:t>III. 研究方法與創新貢獻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多源訓練資料集架構與小目標優化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91440" cy="43891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5943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資料規模：總計 16,275 張影像、185,049 個實體標註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四大融合來源：BDD100K、台灣混流、盲區、負樣本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小目標痛點：15~30m 遠距機車小於 24×24px 易漏檢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三大解法：4:3 原生幾何、P3 淺層金字塔、Mosaic 增強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關鍵校準：修正 845 處大機車誤標，消除特徵混淆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精度飛躍：機車類別 mAP50 由 30.2% 翻倍至 61.1%</a:t>
            </a:r>
          </a:p>
        </p:txBody>
      </p:sp>
      <p:pic>
        <p:nvPicPr>
          <p:cNvPr id="9" name="Picture 8" descr="crop_s6_small_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27855" cy="3792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6 / 12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0D9488"/>
                </a:solidFill>
                <a:latin typeface="Microsoft JhengHei"/>
              </a:defRPr>
            </a:pPr>
            <a:r>
              <a:t>III. 研究方法與創新貢獻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四階邊緣消抖防護引擎與感知架構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91440" cy="4389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5943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單目測距痛點：±2px 抖動使差分車速暴衝至 162 km/h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四階管線：行人分流、雙指數 EMA、速率門檻、遲滯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消抖實測：消除 244 次無效雜訊閃爍，穩定度提升 31.5%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LSTR 車道模型：765K 參數、3.1MB，耗時僅 11.6ms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三級預警決策：緊急 (&lt;1.0s/2m)、警示 (&lt;1.5s/4m)、注意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雙向閉環：鄰道車輛隔離限黃燈，1.5m 緩衝 + 0.25s 冷卻</a:t>
            </a:r>
          </a:p>
        </p:txBody>
      </p:sp>
      <p:pic>
        <p:nvPicPr>
          <p:cNvPr id="9" name="Picture 8" descr="crop_s7_lan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27855" cy="3792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7 / 12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0D9488"/>
                </a:solidFill>
                <a:latin typeface="Microsoft JhengHei"/>
              </a:defRPr>
            </a:pPr>
            <a:r>
              <a:t>III. 研究方法與創新貢獻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真實道路實測影像與全管線延遲分解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•  4 組實車道路場景完整驗證：市區 (24.2 FPS)、快速道路 (27.5 FPS)、穿梭車流 (1.5倍速)、盲點 (39.1 FPS)</a:t>
            </a:r>
          </a:p>
          <a:p>
            <a:pPr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單幀 41.0 ms 延遲深度分解：YOLO26n (22.1ms) + LSTR (11.6ms) + 空間融合 (4.1ms) + HUD (3.2ms)</a:t>
            </a:r>
          </a:p>
        </p:txBody>
      </p:sp>
      <p:pic>
        <p:nvPicPr>
          <p:cNvPr id="7" name="Picture 6" descr="crop_s8_vide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10728655" cy="47477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8 / 12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0D9488"/>
                </a:solidFill>
                <a:latin typeface="Microsoft JhengHei"/>
              </a:defRPr>
            </a:pPr>
            <a:r>
              <a:t>IV. 實驗驗證與效能基準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效能基準評測與極致邊緣優化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91440" cy="43891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5943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汽車檢測精確率：YOLO26n 達 72.4% (相較 v5s 提升 210%)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機車類別 mAP50：YOLO26n 達 61.1% (相較 v5s 翻倍提升)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全類別 mAP50：YOLO26n 達 0.484 (相較基準提升 255.9%)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邊緣 CPU 延遲：樹莓派 5 僅需 26~41ms (v5s 超過 150ms)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車道模型耗時：LSTR 僅需 11.6ms，比 UFLD v2 快 4.7 倍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全天候適應：日間 94.2%、夜間 86.5%、雨霧 81.8%</a:t>
            </a:r>
          </a:p>
        </p:txBody>
      </p:sp>
      <p:pic>
        <p:nvPicPr>
          <p:cNvPr id="9" name="Picture 8" descr="crop_s9_tabl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27855" cy="3792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9 / 12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0D9488"/>
                </a:solidFill>
                <a:latin typeface="Microsoft JhengHei"/>
              </a:defRPr>
            </a:pPr>
            <a:r>
              <a:t>IV. 實驗驗證與效能基準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VISOR 騎士行動端 App (v1.1.11)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•  React + Cordova 跨平台架構：BLE 低功耗藍牙雙向零延遲串聯，即時數位儀表與雷達</a:t>
            </a:r>
          </a:p>
          <a:p>
            <a:pPr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雙裝置獨立遠端關機 + HUD 調光防抖 + E-SOS 傾倒 15 秒自動求救 + Gemini 2.5 雲端騎乘教練</a:t>
            </a:r>
          </a:p>
        </p:txBody>
      </p:sp>
      <p:pic>
        <p:nvPicPr>
          <p:cNvPr id="7" name="Picture 6" descr="crop_s10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10728655" cy="480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10 / 12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0D9488"/>
                </a:solidFill>
                <a:latin typeface="Microsoft JhengHei"/>
              </a:defRPr>
            </a:pPr>
            <a:r>
              <a:t>V. 結論與未來展望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系統主要研究貢獻與成果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871216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YOLO26n 極致邊緣能效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首創 2.37M 輕量模型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4:3 原生幾何節省 64% 算力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百元級 Pi 5 純 CPU 達成 24~39.1 FPS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端到端延遲低至 26~41ms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25696" y="1645920"/>
            <a:ext cx="3328416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920240"/>
            <a:ext cx="2871216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16,275 影像資料工程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涵蓋台灣混流與盲區高危路況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人工校準 845 處大車標註瑕疵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P3 特徵保真攻克小目標檢測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機車 mAP50 翻倍飆升至 61.1%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9872" y="1645920"/>
            <a:ext cx="3328416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920240"/>
            <a:ext cx="2871216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車載級四階消抖防護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創新雙指數平滑 EMA 濾波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施密特遲滯消除 244 次閃爍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預警輸出穩定度提升 31.5%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•  打破汽車壟斷，落實交通平權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11 / 12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0D9488"/>
                </a:solidFill>
                <a:latin typeface="Microsoft JhengHei"/>
              </a:defRPr>
            </a:pPr>
            <a:r>
              <a:t>V. 結論與未來展望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icrosoft JhengHei"/>
              </a:defRPr>
            </a:pPr>
            <a:r>
              <a:t>未來研究展望與致謝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icrosoft JhengHei"/>
              </a:defRPr>
            </a:pPr>
            <a:r>
              <a:t>二輪主動安全防護專題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EFCE8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9728" cy="20116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未來研究展望 (Next-Gen Roadmap)</a:t>
            </a:r>
          </a:p>
          <a:p>
            <a:pPr>
              <a:spcAft>
                <a:spcPts val="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① ONNX Runtime INT8 量化：將推論頻寬減半，挑戰 40+ FPS 全管線極速推論</a:t>
            </a:r>
          </a:p>
          <a:p>
            <a:pPr>
              <a:spcAft>
                <a:spcPts val="4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② 邊緣 NPU 加速棒擴充：導入 Hailo-8 / Google Coral，實現百幀即時運算</a:t>
            </a:r>
          </a:p>
          <a:p>
            <a:pPr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③ V2X 車聯網與多模態感知：整合微型毫米波雷達與車對車通訊，邁向 Level 2+ 主動防護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9728" cy="21945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39"/>
            <a:ext cx="100584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感謝各位評審委員與師長的聆聽與指導！  問答與交流 Q &amp; A</a:t>
            </a:r>
          </a:p>
          <a:p>
            <a:pPr>
              <a:spcAft>
                <a:spcPts val="800"/>
              </a:spcAft>
              <a:defRPr sz="2000" b="1">
                <a:solidFill>
                  <a:srgbClr val="0D9488"/>
                </a:solidFill>
                <a:latin typeface="Microsoft JhengHei"/>
              </a:defRPr>
            </a:pPr>
            <a:r>
              <a:t>團隊成員：林韋丞、陳于庭、楊詠媜、林佳嫻、黃澤然</a:t>
            </a:r>
          </a:p>
          <a:p>
            <a:pPr>
              <a:spcAft>
                <a:spcPts val="600"/>
              </a:spcAft>
              <a:defRPr sz="2000">
                <a:solidFill>
                  <a:srgbClr val="334155"/>
                </a:solidFill>
                <a:latin typeface="Microsoft JhengHei"/>
              </a:defRPr>
            </a:pPr>
            <a:r>
              <a:t>致理科技大學 資訊管理系</a:t>
            </a:r>
          </a:p>
          <a:p>
            <a:pPr>
              <a:defRPr sz="20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V.I.S.O.R. 智慧視覺機車安全行車輔助系統  |  致理科技大學 資訊管理系                12 / 12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